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core idea: this is not an automation replacement. It is a planning assistant that helps validators reuse what MRM already knows.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this relatable: the issue is not lack of skill. The issue is that the knowledge is scattered and the problem space is moving fast.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same example throughout the deck. It keeps the project friendly and concrete.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motivates why a validation map is needed. The goal is not more bureaucracy; it is fewer blind spots.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Avoid saying taxonomy first. Call it a validation map: project type to risk to test to metric.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context. A score without model version, prompt, data, and evaluation method is not reliable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phrase: starting point, not final answer. The system helps avoid blank-page syndrome.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turns the scope into buildable components. It also makes clear what not to build.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realistic for a PhD-level intern: scoped, researchy, and practical.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friendly synopsis. This keeps the intern project clear and low pressure.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rofessional_office_illustration_concep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5080" y="1169346"/>
            <a:ext cx="5349240" cy="30105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0515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 PROJECT CONCEPT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685800" y="1353312"/>
            <a:ext cx="5394960" cy="12344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LLM Validation</a:t>
            </a:r>
            <a:endParaRPr lang="en-US" sz="4300" dirty="0"/>
          </a:p>
          <a:p>
            <a:pPr indent="0" marL="0">
              <a:buNone/>
            </a:pPr>
            <a:r>
              <a:rPr lang="en-US" sz="43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Atlas</a:t>
            </a:r>
            <a:endParaRPr lang="en-US" sz="4300" dirty="0"/>
          </a:p>
        </p:txBody>
      </p:sp>
      <p:sp>
        <p:nvSpPr>
          <p:cNvPr id="5" name="Text 2"/>
          <p:cNvSpPr/>
          <p:nvPr/>
        </p:nvSpPr>
        <p:spPr>
          <a:xfrm>
            <a:off x="731520" y="2880360"/>
            <a:ext cx="493776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2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friendly map and memory for planning LLM validations consistently.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49808" y="4160520"/>
            <a:ext cx="4251960" cy="365760"/>
          </a:xfrm>
          <a:prstGeom prst="roundRect">
            <a:avLst>
              <a:gd name="adj" fmla="val 27500"/>
            </a:avLst>
          </a:prstGeom>
          <a:solidFill>
            <a:srgbClr val="3C8D6E"/>
          </a:solidFill>
          <a:ln w="12700">
            <a:solidFill>
              <a:srgbClr val="3C8D6E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4242816"/>
            <a:ext cx="40325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example: document summarization with human review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9808" y="4800600"/>
            <a:ext cx="47548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Goal: make validation easier to start, easier to compare, and easier to reuse.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A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Validation Atlas  |  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658368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now</a:t>
            </a:r>
            <a:endParaRPr lang="en-US" sz="2800" dirty="0"/>
          </a:p>
        </p:txBody>
      </p:sp>
      <p:pic>
        <p:nvPicPr>
          <p:cNvPr id="3" name="Image 0" descr="/mnt/data/wide_clean_vector_illustration_infographic_scene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438564"/>
            <a:ext cx="5074920" cy="285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94360" y="1417320"/>
            <a:ext cx="5230368" cy="1143000"/>
          </a:xfrm>
          <a:prstGeom prst="roundRect">
            <a:avLst>
              <a:gd name="adj" fmla="val 8800"/>
            </a:avLst>
          </a:prstGeom>
          <a:solidFill>
            <a:srgbClr val="FFFFFF"/>
          </a:solidFill>
          <a:ln w="1016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D3D7DE">
                <a:alpha val="1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8680" y="1673352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LLMs, the validation playbook was relatively mature.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868680" y="2029968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checks, train/test splits, performance metrics, benchmarks, sensitivity, monitoring.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594360" y="2788920"/>
            <a:ext cx="5230368" cy="1417320"/>
          </a:xfrm>
          <a:prstGeom prst="roundRect">
            <a:avLst>
              <a:gd name="adj" fmla="val 7097"/>
            </a:avLst>
          </a:prstGeom>
          <a:solidFill>
            <a:srgbClr val="FFFFFF"/>
          </a:solidFill>
          <a:ln w="1016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D3D7DE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3063240"/>
            <a:ext cx="4663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projects are more varied and less standardized.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68680" y="3456432"/>
            <a:ext cx="457200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Summarization, extraction, RAG, chat, OCR plus LLM, agentic flows, human-in-the-loop tools.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94360" y="4526280"/>
            <a:ext cx="5230368" cy="932688"/>
          </a:xfrm>
          <a:prstGeom prst="roundRect">
            <a:avLst>
              <a:gd name="adj" fmla="val 10784"/>
            </a:avLst>
          </a:prstGeom>
          <a:solidFill>
            <a:srgbClr val="FFF8EC"/>
          </a:solidFill>
          <a:ln w="10160">
            <a:solidFill>
              <a:srgbClr val="EADA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4828032"/>
            <a:ext cx="45720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pain: every new project can feel like starting from scratch.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A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Validation Atlas  |  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658368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running example</a:t>
            </a:r>
            <a:endParaRPr lang="en-US" sz="2800" dirty="0"/>
          </a:p>
        </p:txBody>
      </p:sp>
      <p:pic>
        <p:nvPicPr>
          <p:cNvPr id="3" name="Image 0" descr="/mnt/data/a_clean_modern_vector_illustration_scene_on_a_whi_batch_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53818"/>
            <a:ext cx="6172200" cy="34737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52360" y="120700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COMMON-SENSE USE CASE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7406640" y="1536192"/>
            <a:ext cx="41605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internal tool summarizes important documents.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7424928" y="2487168"/>
            <a:ext cx="411480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drafts the summary.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human reviews it before use.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final summary supports business work.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60920" y="4251960"/>
            <a:ext cx="4096512" cy="969264"/>
          </a:xfrm>
          <a:prstGeom prst="roundRect">
            <a:avLst>
              <a:gd name="adj" fmla="val 10377"/>
            </a:avLst>
          </a:prstGeom>
          <a:solidFill>
            <a:srgbClr val="EEF7F3"/>
          </a:solidFill>
          <a:ln w="10160">
            <a:solidFill>
              <a:srgbClr val="D4E9D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644384" y="4489704"/>
            <a:ext cx="349300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C8D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enough to explain.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3C8D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Rich enough to test seriously.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A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Validation Atlas  |  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658368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LLMs, “accuracy” is not enough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05840"/>
            <a:ext cx="768096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the summarizer example, we care about several ways the output can fail.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645920"/>
            <a:ext cx="329184" cy="329184"/>
          </a:xfrm>
          <a:prstGeom prst="ellipse">
            <a:avLst/>
          </a:prstGeom>
          <a:solidFill>
            <a:srgbClr val="A23A3A"/>
          </a:solidFill>
          <a:ln w="12700">
            <a:solidFill>
              <a:srgbClr val="A23A3A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80160" y="1636776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Omission risk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337560" y="1627632"/>
            <a:ext cx="43891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it miss key facts or risk language?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77240" y="2423160"/>
            <a:ext cx="329184" cy="329184"/>
          </a:xfrm>
          <a:prstGeom prst="ellipse">
            <a:avLst/>
          </a:prstGeom>
          <a:solidFill>
            <a:srgbClr val="B9892F"/>
          </a:solidFill>
          <a:ln w="12700">
            <a:solidFill>
              <a:srgbClr val="B9892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414016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facts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37560" y="2404872"/>
            <a:ext cx="43891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it invent details not in the source?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77240" y="3200400"/>
            <a:ext cx="329184" cy="329184"/>
          </a:xfrm>
          <a:prstGeom prst="ellipse">
            <a:avLst/>
          </a:prstGeom>
          <a:solidFill>
            <a:srgbClr val="2B5C88"/>
          </a:solidFill>
          <a:ln w="12700">
            <a:solidFill>
              <a:srgbClr val="2B5C8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80160" y="3191256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 drift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37560" y="3182112"/>
            <a:ext cx="43891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it change the document’s intent?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77240" y="3977640"/>
            <a:ext cx="329184" cy="329184"/>
          </a:xfrm>
          <a:prstGeom prst="ellipse">
            <a:avLst/>
          </a:prstGeom>
          <a:solidFill>
            <a:srgbClr val="3C8D6E"/>
          </a:solidFill>
          <a:ln w="12700">
            <a:solidFill>
              <a:srgbClr val="3C8D6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68496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Inconsistency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337560" y="3959352"/>
            <a:ext cx="43891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it summarize similar documents differently?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77240" y="4754880"/>
            <a:ext cx="329184" cy="329184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80160" y="4745736"/>
            <a:ext cx="201168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burden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37560" y="4736592"/>
            <a:ext cx="438912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Does the human spend too much time correcting it?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818120" y="1463040"/>
            <a:ext cx="3474720" cy="3749040"/>
          </a:xfrm>
          <a:prstGeom prst="roundRect">
            <a:avLst>
              <a:gd name="adj" fmla="val 2895"/>
            </a:avLst>
          </a:prstGeom>
          <a:solidFill>
            <a:srgbClr val="FFFFFF"/>
          </a:solidFill>
          <a:ln w="10160">
            <a:solidFill>
              <a:srgbClr val="D8DEE7"/>
            </a:solidFill>
            <a:prstDash val="solid"/>
          </a:ln>
          <a:effectLst>
            <a:outerShdw sx="100000" sy="100000" kx="0" ky="0" algn="bl" rotWithShape="0" blurRad="12700" dist="50800" dir="2700000">
              <a:srgbClr val="D3D7DE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11312" y="18288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question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11312" y="2331720"/>
            <a:ext cx="2743200" cy="1508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Is this summary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correct, grounded,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complete, stable,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useful?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211312" y="4206240"/>
            <a:ext cx="26974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framework should help us remember all of these - not just the easiest metric.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A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Validation Atlas  |  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658368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Piece 1: the validation map</a:t>
            </a:r>
            <a:endParaRPr lang="en-US" sz="2800" dirty="0"/>
          </a:p>
        </p:txBody>
      </p:sp>
      <p:pic>
        <p:nvPicPr>
          <p:cNvPr id="3" name="Image 0" descr="/mnt/data/a_clean_high_key_corporate_tech_infographic_scene_batch_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346593"/>
            <a:ext cx="4800600" cy="27017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1024128"/>
            <a:ext cx="55778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 map that links project characteristics to risks, tests, and metrics.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520" y="1691640"/>
            <a:ext cx="5212080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0160">
            <a:solidFill>
              <a:srgbClr val="E1E6E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0120" y="1773936"/>
            <a:ext cx="1325880" cy="365760"/>
          </a:xfrm>
          <a:prstGeom prst="roundRect">
            <a:avLst>
              <a:gd name="adj" fmla="val 27500"/>
            </a:avLst>
          </a:prstGeom>
          <a:solidFill>
            <a:srgbClr val="2B5C88"/>
          </a:solidFill>
          <a:ln w="12700">
            <a:solidFill>
              <a:srgbClr val="2B5C8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69848" y="1856232"/>
            <a:ext cx="1106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type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542032" y="1801368"/>
            <a:ext cx="2971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summarization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37560" y="2286000"/>
            <a:ext cx="0" cy="192024"/>
          </a:xfrm>
          <a:prstGeom prst="line">
            <a:avLst/>
          </a:prstGeom>
          <a:noFill/>
          <a:ln w="16510">
            <a:solidFill>
              <a:srgbClr val="B9892F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731520" y="2551176"/>
            <a:ext cx="5212080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0160">
            <a:solidFill>
              <a:srgbClr val="E1E6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0120" y="2633472"/>
            <a:ext cx="1325880" cy="365760"/>
          </a:xfrm>
          <a:prstGeom prst="roundRect">
            <a:avLst>
              <a:gd name="adj" fmla="val 27500"/>
            </a:avLst>
          </a:prstGeom>
          <a:solidFill>
            <a:srgbClr val="3C8D6E"/>
          </a:solidFill>
          <a:ln w="12700">
            <a:solidFill>
              <a:srgbClr val="3C8D6E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69848" y="2715768"/>
            <a:ext cx="1106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542032" y="2660904"/>
            <a:ext cx="2971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Omission of critical facts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337560" y="3145536"/>
            <a:ext cx="0" cy="192024"/>
          </a:xfrm>
          <a:prstGeom prst="line">
            <a:avLst/>
          </a:prstGeom>
          <a:noFill/>
          <a:ln w="16510">
            <a:solidFill>
              <a:srgbClr val="B9892F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31520" y="3410712"/>
            <a:ext cx="5212080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0160">
            <a:solidFill>
              <a:srgbClr val="E1E6E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0120" y="3493008"/>
            <a:ext cx="1325880" cy="365760"/>
          </a:xfrm>
          <a:prstGeom prst="roundRect">
            <a:avLst>
              <a:gd name="adj" fmla="val 27500"/>
            </a:avLst>
          </a:prstGeom>
          <a:solidFill>
            <a:srgbClr val="2B5C88"/>
          </a:solidFill>
          <a:ln w="12700">
            <a:solidFill>
              <a:srgbClr val="2B5C88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69848" y="3575304"/>
            <a:ext cx="1106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42032" y="3520440"/>
            <a:ext cx="2971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Key-fact coverage review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337560" y="4005072"/>
            <a:ext cx="0" cy="192024"/>
          </a:xfrm>
          <a:prstGeom prst="line">
            <a:avLst/>
          </a:prstGeom>
          <a:noFill/>
          <a:ln w="16510">
            <a:solidFill>
              <a:srgbClr val="B9892F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731520" y="4270248"/>
            <a:ext cx="5212080" cy="530352"/>
          </a:xfrm>
          <a:prstGeom prst="roundRect">
            <a:avLst>
              <a:gd name="adj" fmla="val 18966"/>
            </a:avLst>
          </a:prstGeom>
          <a:solidFill>
            <a:srgbClr val="FFFFFF"/>
          </a:solidFill>
          <a:ln w="10160">
            <a:solidFill>
              <a:srgbClr val="E1E6E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60120" y="4352544"/>
            <a:ext cx="1325880" cy="365760"/>
          </a:xfrm>
          <a:prstGeom prst="roundRect">
            <a:avLst>
              <a:gd name="adj" fmla="val 27500"/>
            </a:avLst>
          </a:prstGeom>
          <a:solidFill>
            <a:srgbClr val="3C8D6E"/>
          </a:solidFill>
          <a:ln w="12700">
            <a:solidFill>
              <a:srgbClr val="3C8D6E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9848" y="4434840"/>
            <a:ext cx="11064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2542032" y="4379976"/>
            <a:ext cx="29718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critical facts covered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31520" y="5285232"/>
            <a:ext cx="5212080" cy="566928"/>
          </a:xfrm>
          <a:prstGeom prst="roundRect">
            <a:avLst>
              <a:gd name="adj" fmla="val 17742"/>
            </a:avLst>
          </a:prstGeom>
          <a:solidFill>
            <a:srgbClr val="FFF8EC"/>
          </a:solidFill>
          <a:ln w="10160">
            <a:solidFill>
              <a:srgbClr val="EADAB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5458968"/>
            <a:ext cx="466344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map says what to test and why.</a:t>
            </a:r>
            <a:endParaRPr lang="en-US" sz="1450" dirty="0"/>
          </a:p>
        </p:txBody>
      </p:sp>
      <p:sp>
        <p:nvSpPr>
          <p:cNvPr id="26" name="Text 23"/>
          <p:cNvSpPr/>
          <p:nvPr/>
        </p:nvSpPr>
        <p:spPr>
          <a:xfrm>
            <a:off x="54864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A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Validation Atlas  |  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658368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Piece 2: the validation memory</a:t>
            </a:r>
            <a:endParaRPr lang="en-US" sz="2800" dirty="0"/>
          </a:p>
        </p:txBody>
      </p:sp>
      <p:pic>
        <p:nvPicPr>
          <p:cNvPr id="3" name="Image 0" descr="/mnt/data/a_clean_minimal_3d_isometric_style_illustration_s_batch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0" y="1440265"/>
            <a:ext cx="5166360" cy="29076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1024128"/>
            <a:ext cx="55778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structured record of what happened before, with enough context to be useful later.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04672" y="1709928"/>
            <a:ext cx="109728" cy="292608"/>
          </a:xfrm>
          <a:prstGeom prst="rect">
            <a:avLst/>
          </a:prstGeom>
          <a:solidFill>
            <a:srgbClr val="2B5C88"/>
          </a:solidFill>
          <a:ln w="12700">
            <a:solidFill>
              <a:srgbClr val="2B5C88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51560" y="1691640"/>
            <a:ext cx="1078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240280" y="1691640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LLM/version/provider</a:t>
            </a:r>
            <a:endParaRPr lang="en-US" sz="1320" dirty="0"/>
          </a:p>
        </p:txBody>
      </p:sp>
      <p:sp>
        <p:nvSpPr>
          <p:cNvPr id="8" name="Shape 5"/>
          <p:cNvSpPr/>
          <p:nvPr/>
        </p:nvSpPr>
        <p:spPr>
          <a:xfrm>
            <a:off x="804672" y="2276856"/>
            <a:ext cx="109728" cy="292608"/>
          </a:xfrm>
          <a:prstGeom prst="rect">
            <a:avLst/>
          </a:prstGeom>
          <a:solidFill>
            <a:srgbClr val="3C8D6E"/>
          </a:solidFill>
          <a:ln w="12700">
            <a:solidFill>
              <a:srgbClr val="3C8D6E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258568"/>
            <a:ext cx="1078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Setup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240280" y="2258568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prompt, settings, retrieval, data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04672" y="2843784"/>
            <a:ext cx="109728" cy="292608"/>
          </a:xfrm>
          <a:prstGeom prst="rect">
            <a:avLst/>
          </a:prstGeom>
          <a:solidFill>
            <a:srgbClr val="2B5C88"/>
          </a:solidFill>
          <a:ln w="12700">
            <a:solidFill>
              <a:srgbClr val="2B5C8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51560" y="2825496"/>
            <a:ext cx="1078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2240280" y="2825496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summary, extraction, Q&amp;A, etc.</a:t>
            </a:r>
            <a:endParaRPr lang="en-US" sz="1320" dirty="0"/>
          </a:p>
        </p:txBody>
      </p:sp>
      <p:sp>
        <p:nvSpPr>
          <p:cNvPr id="14" name="Shape 11"/>
          <p:cNvSpPr/>
          <p:nvPr/>
        </p:nvSpPr>
        <p:spPr>
          <a:xfrm>
            <a:off x="804672" y="3410712"/>
            <a:ext cx="109728" cy="292608"/>
          </a:xfrm>
          <a:prstGeom prst="rect">
            <a:avLst/>
          </a:prstGeom>
          <a:solidFill>
            <a:srgbClr val="3C8D6E"/>
          </a:solidFill>
          <a:ln w="12700">
            <a:solidFill>
              <a:srgbClr val="3C8D6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51560" y="3392424"/>
            <a:ext cx="1078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2240280" y="3392424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coverage, grounding, robustness</a:t>
            </a:r>
            <a:endParaRPr lang="en-US" sz="1320" dirty="0"/>
          </a:p>
        </p:txBody>
      </p:sp>
      <p:sp>
        <p:nvSpPr>
          <p:cNvPr id="17" name="Shape 14"/>
          <p:cNvSpPr/>
          <p:nvPr/>
        </p:nvSpPr>
        <p:spPr>
          <a:xfrm>
            <a:off x="804672" y="3977640"/>
            <a:ext cx="109728" cy="292608"/>
          </a:xfrm>
          <a:prstGeom prst="rect">
            <a:avLst/>
          </a:prstGeom>
          <a:solidFill>
            <a:srgbClr val="2B5C88"/>
          </a:solidFill>
          <a:ln w="12700">
            <a:solidFill>
              <a:srgbClr val="2B5C88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51560" y="3959352"/>
            <a:ext cx="1078992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2240280" y="3959352"/>
            <a:ext cx="29718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score, sample size, notes, caveats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731520" y="5074920"/>
            <a:ext cx="4846320" cy="731520"/>
          </a:xfrm>
          <a:prstGeom prst="roundRect">
            <a:avLst>
              <a:gd name="adj" fmla="val 13750"/>
            </a:avLst>
          </a:prstGeom>
          <a:solidFill>
            <a:srgbClr val="EEF7F3"/>
          </a:solidFill>
          <a:ln w="10160">
            <a:solidFill>
              <a:srgbClr val="D4E9D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5276088"/>
            <a:ext cx="434340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3C8D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memory says what worked, what failed, and under what conditions.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4864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A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Validation Atlas  |  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658368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assistant would help</a:t>
            </a:r>
            <a:endParaRPr lang="en-US" sz="2800" dirty="0"/>
          </a:p>
        </p:txBody>
      </p:sp>
      <p:pic>
        <p:nvPicPr>
          <p:cNvPr id="3" name="Image 0" descr="/mnt/data/a_clean_vector_illustration_scene_of_a_person_at_a_batch_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438564"/>
            <a:ext cx="5074920" cy="2856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1792" y="1005840"/>
            <a:ext cx="51663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assistant gives a starting point, not a final answer.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86384" y="1664208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68680" y="1737360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298448" y="1645920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Describe new project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547872" y="1645920"/>
            <a:ext cx="192024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task, users, data, risk, human review</a:t>
            </a:r>
            <a:endParaRPr lang="en-US" sz="1180" dirty="0"/>
          </a:p>
        </p:txBody>
      </p:sp>
      <p:sp>
        <p:nvSpPr>
          <p:cNvPr id="9" name="Shape 6"/>
          <p:cNvSpPr/>
          <p:nvPr/>
        </p:nvSpPr>
        <p:spPr>
          <a:xfrm>
            <a:off x="786384" y="2414016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68680" y="2487168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298448" y="2395728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project fingerprint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547872" y="2395728"/>
            <a:ext cx="192024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set of standardized descriptors</a:t>
            </a:r>
            <a:endParaRPr lang="en-US" sz="1180" dirty="0"/>
          </a:p>
        </p:txBody>
      </p:sp>
      <p:sp>
        <p:nvSpPr>
          <p:cNvPr id="13" name="Shape 10"/>
          <p:cNvSpPr/>
          <p:nvPr/>
        </p:nvSpPr>
        <p:spPr>
          <a:xfrm>
            <a:off x="786384" y="3163824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" y="3236976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298448" y="3145536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similar work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547872" y="3145536"/>
            <a:ext cx="192024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 projects, tests, findings, results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786384" y="3913632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8680" y="3986784"/>
            <a:ext cx="182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298448" y="3895344"/>
            <a:ext cx="2194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 validation plan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3547872" y="3895344"/>
            <a:ext cx="192024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risks, tests, metrics, benchmark ideas</a:t>
            </a:r>
            <a:endParaRPr lang="en-US" sz="1180" dirty="0"/>
          </a:p>
        </p:txBody>
      </p:sp>
      <p:sp>
        <p:nvSpPr>
          <p:cNvPr id="21" name="Shape 18"/>
          <p:cNvSpPr/>
          <p:nvPr/>
        </p:nvSpPr>
        <p:spPr>
          <a:xfrm>
            <a:off x="713232" y="5074920"/>
            <a:ext cx="5102352" cy="749808"/>
          </a:xfrm>
          <a:prstGeom prst="roundRect">
            <a:avLst>
              <a:gd name="adj" fmla="val 13415"/>
            </a:avLst>
          </a:prstGeom>
          <a:solidFill>
            <a:srgbClr val="FFF8EC"/>
          </a:solidFill>
          <a:ln w="10160">
            <a:solidFill>
              <a:srgbClr val="EADAB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05840" y="5294376"/>
            <a:ext cx="44805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Validator judgment stays in control.</a:t>
            </a:r>
            <a:endParaRPr lang="en-US" sz="1550" dirty="0"/>
          </a:p>
        </p:txBody>
      </p:sp>
      <p:sp>
        <p:nvSpPr>
          <p:cNvPr id="23" name="Text 20"/>
          <p:cNvSpPr/>
          <p:nvPr/>
        </p:nvSpPr>
        <p:spPr>
          <a:xfrm>
            <a:off x="54864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A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Validation Atlas  |  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658368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intern builds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05840"/>
            <a:ext cx="8138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practical prototype plus a clear methodology. Not a giant production platform.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58368" y="1719072"/>
            <a:ext cx="2395728" cy="352044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  <a:effectLst>
            <a:outerShdw sx="100000" sy="100000" kx="0" ky="0" algn="bl" rotWithShape="0" blurRad="12700" dist="50800" dir="2700000">
              <a:srgbClr val="D3D7DE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93392"/>
            <a:ext cx="347472" cy="347472"/>
          </a:xfrm>
          <a:prstGeom prst="ellipse">
            <a:avLst/>
          </a:prstGeom>
          <a:solidFill>
            <a:srgbClr val="2B5C88"/>
          </a:solidFill>
          <a:ln w="12700">
            <a:solidFill>
              <a:srgbClr val="2B5C88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80160" y="1993392"/>
            <a:ext cx="1508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map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32688" y="2633472"/>
            <a:ext cx="18745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descriptors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Risk-to-test links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 definitions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3493008" y="1719072"/>
            <a:ext cx="2395728" cy="352044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  <a:effectLst>
            <a:outerShdw sx="100000" sy="100000" kx="0" ky="0" algn="bl" rotWithShape="0" blurRad="12700" dist="50800" dir="2700000">
              <a:srgbClr val="D3D7DE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0" y="1993392"/>
            <a:ext cx="347472" cy="347472"/>
          </a:xfrm>
          <a:prstGeom prst="ellipse">
            <a:avLst/>
          </a:prstGeom>
          <a:solidFill>
            <a:srgbClr val="3C8D6E"/>
          </a:solidFill>
          <a:ln w="12700">
            <a:solidFill>
              <a:srgbClr val="3C8D6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0" y="1993392"/>
            <a:ext cx="1508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demo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767328" y="2633472"/>
            <a:ext cx="18745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similar projects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similarity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relevant evidence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6327648" y="1719072"/>
            <a:ext cx="2395728" cy="352044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  <a:effectLst>
            <a:outerShdw sx="100000" sy="100000" kx="0" ky="0" algn="bl" rotWithShape="0" blurRad="12700" dist="50800" dir="2700000">
              <a:srgbClr val="D3D7DE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92240" y="1993392"/>
            <a:ext cx="347472" cy="347472"/>
          </a:xfrm>
          <a:prstGeom prst="ellipse">
            <a:avLst/>
          </a:prstGeom>
          <a:solidFill>
            <a:srgbClr val="B9892F"/>
          </a:solidFill>
          <a:ln w="12700">
            <a:solidFill>
              <a:srgbClr val="B9892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1993392"/>
            <a:ext cx="1508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memory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601968" y="2633472"/>
            <a:ext cx="18745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model/prompt/settings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tests and scores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 caveats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162288" y="1719072"/>
            <a:ext cx="2395728" cy="3520440"/>
          </a:xfrm>
          <a:prstGeom prst="roundRect">
            <a:avLst>
              <a:gd name="adj" fmla="val 4198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  <a:effectLst>
            <a:outerShdw sx="100000" sy="100000" kx="0" ky="0" algn="bl" rotWithShape="0" blurRad="12700" dist="50800" dir="2700000">
              <a:srgbClr val="D3D7DE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326880" y="1993392"/>
            <a:ext cx="347472" cy="34747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84080" y="1993392"/>
            <a:ext cx="1508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story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436608" y="2633472"/>
            <a:ext cx="187452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document summarizer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suggested tests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D27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reusable results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768096" y="5742432"/>
            <a:ext cx="102412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it light: enough structure to be useful, not so much that it becomes hard to use.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A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Validation Atlas  |  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658368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simple 10-week path</a:t>
            </a:r>
            <a:endParaRPr lang="en-US" sz="2800" dirty="0"/>
          </a:p>
        </p:txBody>
      </p:sp>
      <p:pic>
        <p:nvPicPr>
          <p:cNvPr id="3" name="Image 0" descr="/mnt/data/a_clean_minimal_infographic_illustration_on_a_w_batch_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2524" y="1143000"/>
            <a:ext cx="6336471" cy="356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94944" y="5230368"/>
            <a:ext cx="1901952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32104" y="5440680"/>
            <a:ext cx="420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1-2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289304" y="5376672"/>
            <a:ext cx="11247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Scope + project descriptors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2935224" y="5230368"/>
            <a:ext cx="1901952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72384" y="5440680"/>
            <a:ext cx="420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3-4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529584" y="5376672"/>
            <a:ext cx="11247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map + metric definitions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175504" y="5230368"/>
            <a:ext cx="1901952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12664" y="5440680"/>
            <a:ext cx="420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5-6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769864" y="5376672"/>
            <a:ext cx="11247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Similarity retrieval prototype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415784" y="5230368"/>
            <a:ext cx="1901952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52944" y="5440680"/>
            <a:ext cx="420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7-8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8010144" y="5376672"/>
            <a:ext cx="11247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 memory + benchmark evidence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9656064" y="5230368"/>
            <a:ext cx="1901952" cy="749808"/>
          </a:xfrm>
          <a:prstGeom prst="roundRect">
            <a:avLst>
              <a:gd name="adj" fmla="val 13415"/>
            </a:avLst>
          </a:prstGeom>
          <a:solidFill>
            <a:srgbClr val="FFFFFF"/>
          </a:solidFill>
          <a:ln w="10160">
            <a:solidFill>
              <a:srgbClr val="DDE3E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793224" y="5440680"/>
            <a:ext cx="420624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B989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9-10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250424" y="5376672"/>
            <a:ext cx="1124712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Demo, stress test, final story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4864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A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Validation Atlas  |  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38912"/>
            <a:ext cx="658368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“good” looks like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21792" y="1024128"/>
            <a:ext cx="7498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the end, the project should make LLM validation feel less ad hoc.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04672" y="1682496"/>
            <a:ext cx="256032" cy="256032"/>
          </a:xfrm>
          <a:prstGeom prst="ellipse">
            <a:avLst/>
          </a:prstGeom>
          <a:solidFill>
            <a:srgbClr val="3C8D6E"/>
          </a:solidFill>
          <a:ln w="12700">
            <a:solidFill>
              <a:srgbClr val="3C8D6E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07008" y="1655064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Usable</a:t>
            </a:r>
            <a:endParaRPr lang="en-US" sz="1380" dirty="0"/>
          </a:p>
        </p:txBody>
      </p:sp>
      <p:sp>
        <p:nvSpPr>
          <p:cNvPr id="6" name="Text 4"/>
          <p:cNvSpPr/>
          <p:nvPr/>
        </p:nvSpPr>
        <p:spPr>
          <a:xfrm>
            <a:off x="2514600" y="1645920"/>
            <a:ext cx="65379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validator can start with a new LLM project and get a reasonable first test plan.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04672" y="2368296"/>
            <a:ext cx="256032" cy="256032"/>
          </a:xfrm>
          <a:prstGeom prst="ellipse">
            <a:avLst/>
          </a:prstGeom>
          <a:solidFill>
            <a:srgbClr val="2B5C88"/>
          </a:solidFill>
          <a:ln w="12700">
            <a:solidFill>
              <a:srgbClr val="2B5C8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07008" y="2340864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2514600" y="2331720"/>
            <a:ext cx="65379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 show why similar projects, risks, tests, and metrics were selected.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" y="3054096"/>
            <a:ext cx="256032" cy="256032"/>
          </a:xfrm>
          <a:prstGeom prst="ellipse">
            <a:avLst/>
          </a:prstGeom>
          <a:solidFill>
            <a:srgbClr val="B9892F"/>
          </a:solidFill>
          <a:ln w="12700">
            <a:solidFill>
              <a:srgbClr val="B9892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07008" y="3026664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</a:t>
            </a:r>
            <a:endParaRPr lang="en-US" sz="1380" dirty="0"/>
          </a:p>
        </p:txBody>
      </p:sp>
      <p:sp>
        <p:nvSpPr>
          <p:cNvPr id="12" name="Text 10"/>
          <p:cNvSpPr/>
          <p:nvPr/>
        </p:nvSpPr>
        <p:spPr>
          <a:xfrm>
            <a:off x="2514600" y="3017520"/>
            <a:ext cx="65379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Similar projects receive similar rigor, while still allowing judgment.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" y="3739896"/>
            <a:ext cx="256032" cy="256032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7008" y="3712464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</a:t>
            </a:r>
            <a:endParaRPr lang="en-US" sz="1380" dirty="0"/>
          </a:p>
        </p:txBody>
      </p:sp>
      <p:sp>
        <p:nvSpPr>
          <p:cNvPr id="15" name="Text 13"/>
          <p:cNvSpPr/>
          <p:nvPr/>
        </p:nvSpPr>
        <p:spPr>
          <a:xfrm>
            <a:off x="2514600" y="3703320"/>
            <a:ext cx="65379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are stored with context so future benchmark choices are better informed.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04672" y="4425696"/>
            <a:ext cx="256032" cy="256032"/>
          </a:xfrm>
          <a:prstGeom prst="ellipse">
            <a:avLst/>
          </a:prstGeom>
          <a:solidFill>
            <a:srgbClr val="3C8D6E"/>
          </a:solidFill>
          <a:ln w="12700">
            <a:solidFill>
              <a:srgbClr val="3C8D6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4398264"/>
            <a:ext cx="12344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b="1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Extendable</a:t>
            </a:r>
            <a:endParaRPr lang="en-US" sz="1380" dirty="0"/>
          </a:p>
        </p:txBody>
      </p:sp>
      <p:sp>
        <p:nvSpPr>
          <p:cNvPr id="18" name="Text 16"/>
          <p:cNvSpPr/>
          <p:nvPr/>
        </p:nvSpPr>
        <p:spPr>
          <a:xfrm>
            <a:off x="2514600" y="4389120"/>
            <a:ext cx="6537960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B677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LLMs, tasks, prompts, and datasets can be added without redesigning everything.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49808" y="5596128"/>
            <a:ext cx="10680192" cy="502920"/>
          </a:xfrm>
          <a:prstGeom prst="roundRect">
            <a:avLst>
              <a:gd name="adj" fmla="val 20000"/>
            </a:avLst>
          </a:prstGeom>
          <a:solidFill>
            <a:srgbClr val="EEF7F3"/>
          </a:solidFill>
          <a:ln w="10160">
            <a:solidFill>
              <a:srgbClr val="D4E9D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5742432"/>
            <a:ext cx="1010412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3C8D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One-line synopsis: build an evidence-based assistant that helps validators decide what to test by learning from similar past LLM projects.</a:t>
            </a:r>
            <a:endParaRPr lang="en-US" sz="1160" dirty="0"/>
          </a:p>
        </p:txBody>
      </p:sp>
      <p:sp>
        <p:nvSpPr>
          <p:cNvPr id="21" name="Text 19"/>
          <p:cNvSpPr/>
          <p:nvPr/>
        </p:nvSpPr>
        <p:spPr>
          <a:xfrm>
            <a:off x="548640" y="6446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7A0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Validation Atlas  |  10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 Validation Atlas</dc:title>
  <dc:subject>LLM Validation Atlas intern project</dc:subject>
  <dc:creator>OpenAI</dc:creator>
  <cp:lastModifiedBy>OpenAI</cp:lastModifiedBy>
  <cp:revision>1</cp:revision>
  <dcterms:created xsi:type="dcterms:W3CDTF">2026-05-11T01:09:53Z</dcterms:created>
  <dcterms:modified xsi:type="dcterms:W3CDTF">2026-05-11T01:09:53Z</dcterms:modified>
</cp:coreProperties>
</file>